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23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7" y="4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 descr="metin, ekran görüntüsü, oyun içeren bir resim&#10;&#10;Açıklama otomatik olarak oluşturuldu">
            <a:extLst>
              <a:ext uri="{FF2B5EF4-FFF2-40B4-BE49-F238E27FC236}">
                <a16:creationId xmlns:a16="http://schemas.microsoft.com/office/drawing/2014/main" id="{15C45F43-A678-D5E5-01C5-97DC936F5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991696"/>
          </a:xfrm>
          <a:prstGeom prst="rect">
            <a:avLst/>
          </a:prstGeom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5DC6072D-10EC-8A7F-91B7-EBAA56EF4650}"/>
              </a:ext>
            </a:extLst>
          </p:cNvPr>
          <p:cNvSpPr txBox="1"/>
          <p:nvPr/>
        </p:nvSpPr>
        <p:spPr>
          <a:xfrm>
            <a:off x="651753" y="5239114"/>
            <a:ext cx="78404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Main Title:</a:t>
            </a:r>
            <a:r>
              <a:rPr lang="en-US" dirty="0">
                <a:solidFill>
                  <a:schemeClr val="bg1"/>
                </a:solidFill>
              </a:rPr>
              <a:t> Strategic Retention Initiative: AI-Driven Churn Prevention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Subtitle:</a:t>
            </a:r>
            <a:r>
              <a:rPr lang="en-US" dirty="0">
                <a:solidFill>
                  <a:schemeClr val="bg1"/>
                </a:solidFill>
              </a:rPr>
              <a:t> Leveraging Machine Learning to Secure $1.8M in Annual Revenue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Presenter:</a:t>
            </a:r>
            <a:r>
              <a:rPr lang="en-US" dirty="0">
                <a:solidFill>
                  <a:schemeClr val="bg1"/>
                </a:solidFill>
              </a:rPr>
              <a:t> Murat İYİGÜN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Date:</a:t>
            </a:r>
            <a:r>
              <a:rPr lang="en-US" dirty="0">
                <a:solidFill>
                  <a:schemeClr val="bg1"/>
                </a:solidFill>
              </a:rPr>
              <a:t> November 2025</a:t>
            </a:r>
          </a:p>
        </p:txBody>
      </p:sp>
    </p:spTree>
    <p:extLst>
      <p:ext uri="{BB962C8B-B14F-4D97-AF65-F5344CB8AC3E}">
        <p14:creationId xmlns:p14="http://schemas.microsoft.com/office/powerpoint/2010/main" val="3388424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/>
          <a:lstStyle/>
          <a:p>
            <a:r>
              <a:rPr sz="2200" dirty="0">
                <a:solidFill>
                  <a:srgbClr val="FFFFFF"/>
                </a:solidFill>
              </a:rPr>
              <a:t>📊 Executive Presentation: </a:t>
            </a:r>
            <a:r>
              <a:rPr sz="2200" dirty="0" err="1">
                <a:solidFill>
                  <a:srgbClr val="FFFFFF"/>
                </a:solidFill>
              </a:rPr>
              <a:t>FreshCart</a:t>
            </a:r>
            <a:r>
              <a:rPr sz="2200" dirty="0">
                <a:solidFill>
                  <a:srgbClr val="FFFFFF"/>
                </a:solidFill>
              </a:rPr>
              <a:t> Churn Prediction</a:t>
            </a:r>
          </a:p>
          <a:p>
            <a:r>
              <a:rPr sz="2200" dirty="0">
                <a:solidFill>
                  <a:srgbClr val="FFFFFF"/>
                </a:solidFill>
              </a:rPr>
              <a:t>Slide 2: The Challenge &amp; Opportunity</a:t>
            </a:r>
          </a:p>
          <a:p>
            <a:r>
              <a:rPr sz="2200" dirty="0">
                <a:solidFill>
                  <a:srgbClr val="FFFFFF"/>
                </a:solidFill>
              </a:rPr>
              <a:t>How It Works:</a:t>
            </a:r>
          </a:p>
          <a:p>
            <a:r>
              <a:rPr sz="2200" dirty="0">
                <a:solidFill>
                  <a:srgbClr val="FFFFFF"/>
                </a:solidFill>
              </a:rPr>
              <a:t>Annual Projections:</a:t>
            </a:r>
          </a:p>
          <a:p>
            <a:r>
              <a:rPr sz="2200" dirty="0">
                <a:solidFill>
                  <a:srgbClr val="FFFFFF"/>
                </a:solidFill>
              </a:rPr>
              <a:t>The model provides explainable insights into customer behavior:</a:t>
            </a:r>
          </a:p>
          <a:p>
            <a:r>
              <a:rPr sz="2200" dirty="0">
                <a:solidFill>
                  <a:srgbClr val="FFFFFF"/>
                </a:solidFill>
              </a:rPr>
              <a:t>Automated Action: Risk lists are pushed to the CRM system or trigger automated emails/push notifications.</a:t>
            </a:r>
          </a:p>
          <a:p>
            <a:r>
              <a:rPr sz="2200" dirty="0">
                <a:solidFill>
                  <a:srgbClr val="FFFFFF"/>
                </a:solidFill>
              </a:rPr>
              <a:t>Requirements: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/>
          <a:lstStyle/>
          <a:p>
            <a:r>
              <a:rPr sz="2200" dirty="0">
                <a:solidFill>
                  <a:srgbClr val="FFFFFF"/>
                </a:solidFill>
              </a:rPr>
              <a:t>Current Situation: In the last 6 months, our customer churn rate has surged from 18% to 23%.</a:t>
            </a:r>
          </a:p>
          <a:p>
            <a:r>
              <a:rPr sz="2200" dirty="0">
                <a:solidFill>
                  <a:srgbClr val="FFFFFF"/>
                </a:solidFill>
              </a:rPr>
              <a:t>The model monitors behavioral patterns: purchase frequency, basket size trends, and product diversity.</a:t>
            </a:r>
          </a:p>
          <a:p>
            <a:r>
              <a:rPr sz="2200" dirty="0">
                <a:solidFill>
                  <a:srgbClr val="FFFFFF"/>
                </a:solidFill>
              </a:rPr>
              <a:t>Targeted High-Risk Users: ~14,500 users</a:t>
            </a:r>
          </a:p>
          <a:p>
            <a:r>
              <a:rPr sz="2200" dirty="0">
                <a:solidFill>
                  <a:srgbClr val="FFFFFF"/>
                </a:solidFill>
              </a:rPr>
              <a:t>Purchase Velocity: A sudden drop in ordering speed is the #1 predictor of churn.</a:t>
            </a:r>
          </a:p>
          <a:p>
            <a:r>
              <a:rPr sz="2200" dirty="0">
                <a:solidFill>
                  <a:srgbClr val="FFFFFF"/>
                </a:solidFill>
              </a:rPr>
              <a:t>Personalized Incentives:</a:t>
            </a:r>
          </a:p>
          <a:p>
            <a:r>
              <a:rPr sz="2200" dirty="0">
                <a:solidFill>
                  <a:srgbClr val="FFFFFF"/>
                </a:solidFill>
              </a:rPr>
              <a:t>Approval for pilot marketing budget.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37553"/>
            <a:ext cx="8229600" cy="4525963"/>
          </a:xfrm>
        </p:spPr>
        <p:txBody>
          <a:bodyPr/>
          <a:lstStyle/>
          <a:p>
            <a:r>
              <a:rPr sz="2200" dirty="0">
                <a:solidFill>
                  <a:srgbClr val="FFFFFF"/>
                </a:solidFill>
              </a:rPr>
              <a:t>Project Title: </a:t>
            </a:r>
            <a:r>
              <a:rPr sz="2200" dirty="0" err="1">
                <a:solidFill>
                  <a:srgbClr val="FFFFFF"/>
                </a:solidFill>
              </a:rPr>
              <a:t>FreshCart</a:t>
            </a:r>
            <a:r>
              <a:rPr sz="2200" dirty="0">
                <a:solidFill>
                  <a:srgbClr val="FFFFFF"/>
                </a:solidFill>
              </a:rPr>
              <a:t> Customer Retention Initiative</a:t>
            </a:r>
          </a:p>
          <a:p>
            <a:r>
              <a:rPr sz="2200" dirty="0">
                <a:solidFill>
                  <a:srgbClr val="FFFFFF"/>
                </a:solidFill>
              </a:rPr>
              <a:t>The Cost: Every lost customer represents an average revenue loss of $150/month.</a:t>
            </a:r>
          </a:p>
          <a:p>
            <a:r>
              <a:rPr sz="2200" dirty="0">
                <a:solidFill>
                  <a:srgbClr val="FFFFFF"/>
                </a:solidFill>
              </a:rPr>
              <a:t>It detects subtle changes (e.g., "Customer velocity has dropped by 50%") and triggers an alert.</a:t>
            </a:r>
          </a:p>
          <a:p>
            <a:r>
              <a:rPr sz="2200" dirty="0">
                <a:solidFill>
                  <a:srgbClr val="FFFFFF"/>
                </a:solidFill>
              </a:rPr>
              <a:t>Campaign Cost: ~$150,000 (Incentives)</a:t>
            </a:r>
          </a:p>
          <a:p>
            <a:r>
              <a:rPr sz="2200" dirty="0">
                <a:solidFill>
                  <a:srgbClr val="FFFFFF"/>
                </a:solidFill>
              </a:rPr>
              <a:t>Inactivity Window (Recency): Risk increases by 60% if a customer hasn't ordered in the last 21 days.</a:t>
            </a:r>
          </a:p>
          <a:p>
            <a:r>
              <a:rPr sz="2200" dirty="0">
                <a:solidFill>
                  <a:srgbClr val="FFFFFF"/>
                </a:solidFill>
              </a:rPr>
              <a:t>Velocity Drop: "We miss you" coupons.</a:t>
            </a:r>
          </a:p>
          <a:p>
            <a:r>
              <a:rPr sz="2200" dirty="0">
                <a:solidFill>
                  <a:srgbClr val="FFFFFF"/>
                </a:solidFill>
              </a:rPr>
              <a:t>IT support for CRM integration.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5375"/>
            <a:ext cx="8229600" cy="4525963"/>
          </a:xfrm>
        </p:spPr>
        <p:txBody>
          <a:bodyPr/>
          <a:lstStyle/>
          <a:p>
            <a:r>
              <a:rPr sz="2200" dirty="0">
                <a:solidFill>
                  <a:srgbClr val="FFFFFF"/>
                </a:solidFill>
              </a:rPr>
              <a:t>Subtitle: AI-Powered Early Warning System for Customer Churn</a:t>
            </a:r>
          </a:p>
          <a:p>
            <a:r>
              <a:rPr sz="2200" dirty="0">
                <a:solidFill>
                  <a:srgbClr val="FFFFFF"/>
                </a:solidFill>
              </a:rPr>
              <a:t>Pain Point: Our marketing team lacks visibility on who is about to leave, leading to inefficient "spray and pray" campaigns.</a:t>
            </a:r>
          </a:p>
          <a:p>
            <a:r>
              <a:rPr sz="2200" dirty="0">
                <a:solidFill>
                  <a:srgbClr val="FFFFFF"/>
                </a:solidFill>
              </a:rPr>
              <a:t>Technology: Powered by state-of-the-art Machine Learning algorithms (</a:t>
            </a:r>
            <a:r>
              <a:rPr sz="2200" dirty="0" err="1">
                <a:solidFill>
                  <a:srgbClr val="FFFFFF"/>
                </a:solidFill>
              </a:rPr>
              <a:t>LightGBM</a:t>
            </a:r>
            <a:r>
              <a:rPr sz="2200" dirty="0">
                <a:solidFill>
                  <a:srgbClr val="FFFFFF"/>
                </a:solidFill>
              </a:rPr>
              <a:t>), moving beyond simple rule-based logic to recognize complex churn signals.</a:t>
            </a:r>
          </a:p>
          <a:p>
            <a:r>
              <a:rPr sz="2200" dirty="0">
                <a:solidFill>
                  <a:srgbClr val="FFFFFF"/>
                </a:solidFill>
              </a:rPr>
              <a:t>Revenue Saved: ~$1,850,000</a:t>
            </a:r>
          </a:p>
          <a:p>
            <a:r>
              <a:rPr sz="2200" dirty="0">
                <a:solidFill>
                  <a:srgbClr val="FFFFFF"/>
                </a:solidFill>
              </a:rPr>
              <a:t>Basket Shrinkage: Loyal customers tend to reduce their basket size gradually before leaving completely.</a:t>
            </a:r>
          </a:p>
          <a:p>
            <a:r>
              <a:rPr sz="2200" dirty="0">
                <a:solidFill>
                  <a:srgbClr val="FFFFFF"/>
                </a:solidFill>
              </a:rPr>
              <a:t>Basket Shrinkage: Free shipping offers on next order.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8642"/>
            <a:ext cx="8229600" cy="4525963"/>
          </a:xfrm>
        </p:spPr>
        <p:txBody>
          <a:bodyPr/>
          <a:lstStyle/>
          <a:p>
            <a:r>
              <a:rPr sz="2200" dirty="0">
                <a:solidFill>
                  <a:srgbClr val="FFFFFF"/>
                </a:solidFill>
              </a:rPr>
              <a:t>Prepared By: Murat IYIGUN</a:t>
            </a:r>
          </a:p>
          <a:p>
            <a:r>
              <a:rPr sz="2200" dirty="0">
                <a:solidFill>
                  <a:srgbClr val="FFFFFF"/>
                </a:solidFill>
              </a:rPr>
              <a:t>The Opportunity: Identifying at-risk customers 14 days in advance allows us to intervene proactively and retain them.</a:t>
            </a:r>
          </a:p>
          <a:p>
            <a:r>
              <a:rPr sz="2200" dirty="0">
                <a:solidFill>
                  <a:srgbClr val="FFFFFF"/>
                </a:solidFill>
              </a:rPr>
              <a:t>Slide 4: Financial Impact &amp; ROI (Key Metrics)</a:t>
            </a:r>
          </a:p>
          <a:p>
            <a:r>
              <a:rPr sz="2200" dirty="0">
                <a:solidFill>
                  <a:srgbClr val="FFFFFF"/>
                </a:solidFill>
              </a:rPr>
              <a:t>Net Profit: ~$1.7 Million in additional retained revenue per year.</a:t>
            </a:r>
          </a:p>
          <a:p>
            <a:r>
              <a:rPr sz="2200" dirty="0">
                <a:solidFill>
                  <a:srgbClr val="FFFFFF"/>
                </a:solidFill>
              </a:rPr>
              <a:t>Slide 6: Operational Roadmap (Next Steps)</a:t>
            </a:r>
          </a:p>
          <a:p>
            <a:r>
              <a:rPr sz="2200" dirty="0">
                <a:solidFill>
                  <a:srgbClr val="FFFFFF"/>
                </a:solidFill>
              </a:rPr>
              <a:t>Slide 7: Conclusion &amp; Ask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48447"/>
            <a:ext cx="8229600" cy="4525963"/>
          </a:xfrm>
        </p:spPr>
        <p:txBody>
          <a:bodyPr/>
          <a:lstStyle/>
          <a:p>
            <a:r>
              <a:rPr sz="2200" dirty="0">
                <a:solidFill>
                  <a:srgbClr val="FFFFFF"/>
                </a:solidFill>
              </a:rPr>
              <a:t>Date: November 2025</a:t>
            </a:r>
          </a:p>
          <a:p>
            <a:r>
              <a:rPr sz="2200" dirty="0">
                <a:solidFill>
                  <a:srgbClr val="FFFFFF"/>
                </a:solidFill>
              </a:rPr>
              <a:t>Slide 3: Our Solution (The AI Model)</a:t>
            </a:r>
          </a:p>
          <a:p>
            <a:r>
              <a:rPr sz="2200" dirty="0">
                <a:solidFill>
                  <a:srgbClr val="FFFFFF"/>
                </a:solidFill>
              </a:rPr>
              <a:t>(Based on test data analysis)</a:t>
            </a:r>
          </a:p>
          <a:p>
            <a:r>
              <a:rPr sz="2200" dirty="0">
                <a:solidFill>
                  <a:srgbClr val="FFFFFF"/>
                </a:solidFill>
              </a:rPr>
              <a:t>Return on Investment (ROI): ~1100% (For every $1 spent, we save $11).</a:t>
            </a:r>
          </a:p>
          <a:p>
            <a:r>
              <a:rPr sz="2200" dirty="0">
                <a:solidFill>
                  <a:srgbClr val="FFFFFF"/>
                </a:solidFill>
              </a:rPr>
              <a:t>How we integrate this into our business workflow:</a:t>
            </a:r>
          </a:p>
          <a:p>
            <a:r>
              <a:rPr sz="2200" dirty="0">
                <a:solidFill>
                  <a:srgbClr val="FFFFFF"/>
                </a:solidFill>
              </a:rPr>
              <a:t>Status: The project is technically complete, validated, and achieves a </a:t>
            </a:r>
            <a:r>
              <a:rPr lang="en-US" sz="2200" dirty="0">
                <a:solidFill>
                  <a:srgbClr val="FFFFFF"/>
                </a:solidFill>
              </a:rPr>
              <a:t>77</a:t>
            </a:r>
            <a:r>
              <a:rPr sz="2200" dirty="0">
                <a:solidFill>
                  <a:srgbClr val="FFFFFF"/>
                </a:solidFill>
              </a:rPr>
              <a:t>% AUC score.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7085"/>
            <a:ext cx="8229600" cy="4525963"/>
          </a:xfrm>
        </p:spPr>
        <p:txBody>
          <a:bodyPr/>
          <a:lstStyle/>
          <a:p>
            <a:r>
              <a:rPr sz="2200" dirty="0">
                <a:solidFill>
                  <a:srgbClr val="FFFFFF"/>
                </a:solidFill>
              </a:rPr>
              <a:t>Key Highlight: "Projected Annual Revenue Protection: $1.8 Million"</a:t>
            </a:r>
          </a:p>
          <a:p>
            <a:r>
              <a:rPr sz="2200" dirty="0">
                <a:solidFill>
                  <a:srgbClr val="FFFFFF"/>
                </a:solidFill>
              </a:rPr>
              <a:t>What We Built: An intelligent "Early Warning System" analyzing over 3 Million historical orders.</a:t>
            </a:r>
          </a:p>
          <a:p>
            <a:r>
              <a:rPr sz="2200" dirty="0">
                <a:solidFill>
                  <a:srgbClr val="FFFFFF"/>
                </a:solidFill>
              </a:rPr>
              <a:t>Predictive Power: The model successfully identifies 8</a:t>
            </a:r>
            <a:r>
              <a:rPr lang="en-US" sz="2200" dirty="0">
                <a:solidFill>
                  <a:srgbClr val="FFFFFF"/>
                </a:solidFill>
              </a:rPr>
              <a:t>1</a:t>
            </a:r>
            <a:r>
              <a:rPr sz="2200" dirty="0">
                <a:solidFill>
                  <a:srgbClr val="FFFFFF"/>
                </a:solidFill>
              </a:rPr>
              <a:t> out of every 100 customers who are about to churn (8</a:t>
            </a:r>
            <a:r>
              <a:rPr lang="en-US" sz="2200" dirty="0">
                <a:solidFill>
                  <a:srgbClr val="FFFFFF"/>
                </a:solidFill>
              </a:rPr>
              <a:t>1</a:t>
            </a:r>
            <a:r>
              <a:rPr sz="2200" dirty="0">
                <a:solidFill>
                  <a:srgbClr val="FFFFFF"/>
                </a:solidFill>
              </a:rPr>
              <a:t>% Recall).</a:t>
            </a:r>
          </a:p>
          <a:p>
            <a:r>
              <a:rPr sz="2200" dirty="0">
                <a:solidFill>
                  <a:srgbClr val="FFFFFF"/>
                </a:solidFill>
              </a:rPr>
              <a:t>Slide 5: Why Do They Leave? (Key Drivers)</a:t>
            </a:r>
          </a:p>
          <a:p>
            <a:r>
              <a:rPr sz="2200" dirty="0">
                <a:solidFill>
                  <a:srgbClr val="FFFFFF"/>
                </a:solidFill>
              </a:rPr>
              <a:t>Daily Scan: The system runs every night to identify "High-Risk" customers.</a:t>
            </a:r>
          </a:p>
          <a:p>
            <a:r>
              <a:rPr sz="2200" dirty="0">
                <a:solidFill>
                  <a:srgbClr val="FFFFFF"/>
                </a:solidFill>
              </a:rPr>
              <a:t>Recommendation: Launch a 1-month Pilot Program (A/B Test) to measure real-world impact.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563</Words>
  <Application>Microsoft Office PowerPoint</Application>
  <PresentationFormat>Ekran Gösterisi (4:3)</PresentationFormat>
  <Paragraphs>48</Paragraphs>
  <Slides>8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Murat İyigün</cp:lastModifiedBy>
  <cp:revision>4</cp:revision>
  <dcterms:created xsi:type="dcterms:W3CDTF">2013-01-27T09:14:16Z</dcterms:created>
  <dcterms:modified xsi:type="dcterms:W3CDTF">2025-11-29T16:25:10Z</dcterms:modified>
  <cp:category/>
</cp:coreProperties>
</file>